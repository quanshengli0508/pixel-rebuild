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0972800" cy="66751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8" Type="http://schemas.openxmlformats.org/officeDocument/2006/relationships/slideLayout" Target="../slideLayouts/slideLayout7.xml"/><Relationship Id="rId97" Type="http://schemas.openxmlformats.org/officeDocument/2006/relationships/tags" Target="../tags/tag97.xml"/><Relationship Id="rId96" Type="http://schemas.openxmlformats.org/officeDocument/2006/relationships/tags" Target="../tags/tag96.xml"/><Relationship Id="rId95" Type="http://schemas.openxmlformats.org/officeDocument/2006/relationships/tags" Target="../tags/tag95.xml"/><Relationship Id="rId94" Type="http://schemas.openxmlformats.org/officeDocument/2006/relationships/tags" Target="../tags/tag94.xml"/><Relationship Id="rId93" Type="http://schemas.openxmlformats.org/officeDocument/2006/relationships/tags" Target="../tags/tag93.xml"/><Relationship Id="rId92" Type="http://schemas.openxmlformats.org/officeDocument/2006/relationships/tags" Target="../tags/tag92.xml"/><Relationship Id="rId91" Type="http://schemas.openxmlformats.org/officeDocument/2006/relationships/tags" Target="../tags/tag91.xml"/><Relationship Id="rId90" Type="http://schemas.openxmlformats.org/officeDocument/2006/relationships/tags" Target="../tags/tag90.xml"/><Relationship Id="rId9" Type="http://schemas.openxmlformats.org/officeDocument/2006/relationships/tags" Target="../tags/tag9.xml"/><Relationship Id="rId89" Type="http://schemas.openxmlformats.org/officeDocument/2006/relationships/tags" Target="../tags/tag89.xml"/><Relationship Id="rId88" Type="http://schemas.openxmlformats.org/officeDocument/2006/relationships/tags" Target="../tags/tag88.xml"/><Relationship Id="rId87" Type="http://schemas.openxmlformats.org/officeDocument/2006/relationships/tags" Target="../tags/tag87.xml"/><Relationship Id="rId86" Type="http://schemas.openxmlformats.org/officeDocument/2006/relationships/tags" Target="../tags/tag86.xml"/><Relationship Id="rId85" Type="http://schemas.openxmlformats.org/officeDocument/2006/relationships/tags" Target="../tags/tag85.xml"/><Relationship Id="rId84" Type="http://schemas.openxmlformats.org/officeDocument/2006/relationships/tags" Target="../tags/tag84.xml"/><Relationship Id="rId83" Type="http://schemas.openxmlformats.org/officeDocument/2006/relationships/tags" Target="../tags/tag83.xml"/><Relationship Id="rId82" Type="http://schemas.openxmlformats.org/officeDocument/2006/relationships/tags" Target="../tags/tag82.xml"/><Relationship Id="rId81" Type="http://schemas.openxmlformats.org/officeDocument/2006/relationships/tags" Target="../tags/tag81.xml"/><Relationship Id="rId80" Type="http://schemas.openxmlformats.org/officeDocument/2006/relationships/tags" Target="../tags/tag80.xml"/><Relationship Id="rId8" Type="http://schemas.openxmlformats.org/officeDocument/2006/relationships/tags" Target="../tags/tag8.xml"/><Relationship Id="rId79" Type="http://schemas.openxmlformats.org/officeDocument/2006/relationships/tags" Target="../tags/tag79.xml"/><Relationship Id="rId78" Type="http://schemas.openxmlformats.org/officeDocument/2006/relationships/tags" Target="../tags/tag78.xml"/><Relationship Id="rId77" Type="http://schemas.openxmlformats.org/officeDocument/2006/relationships/tags" Target="../tags/tag77.xml"/><Relationship Id="rId76" Type="http://schemas.openxmlformats.org/officeDocument/2006/relationships/tags" Target="../tags/tag76.xml"/><Relationship Id="rId75" Type="http://schemas.openxmlformats.org/officeDocument/2006/relationships/tags" Target="../tags/tag75.xml"/><Relationship Id="rId74" Type="http://schemas.openxmlformats.org/officeDocument/2006/relationships/tags" Target="../tags/tag74.xml"/><Relationship Id="rId73" Type="http://schemas.openxmlformats.org/officeDocument/2006/relationships/tags" Target="../tags/tag73.xml"/><Relationship Id="rId72" Type="http://schemas.openxmlformats.org/officeDocument/2006/relationships/tags" Target="../tags/tag72.xml"/><Relationship Id="rId71" Type="http://schemas.openxmlformats.org/officeDocument/2006/relationships/tags" Target="../tags/tag71.xml"/><Relationship Id="rId70" Type="http://schemas.openxmlformats.org/officeDocument/2006/relationships/tags" Target="../tags/tag70.xml"/><Relationship Id="rId7" Type="http://schemas.openxmlformats.org/officeDocument/2006/relationships/tags" Target="../tags/tag7.xml"/><Relationship Id="rId69" Type="http://schemas.openxmlformats.org/officeDocument/2006/relationships/tags" Target="../tags/tag69.xml"/><Relationship Id="rId68" Type="http://schemas.openxmlformats.org/officeDocument/2006/relationships/tags" Target="../tags/tag68.xml"/><Relationship Id="rId67" Type="http://schemas.openxmlformats.org/officeDocument/2006/relationships/tags" Target="../tags/tag67.xml"/><Relationship Id="rId66" Type="http://schemas.openxmlformats.org/officeDocument/2006/relationships/tags" Target="../tags/tag66.xml"/><Relationship Id="rId65" Type="http://schemas.openxmlformats.org/officeDocument/2006/relationships/tags" Target="../tags/tag65.xml"/><Relationship Id="rId64" Type="http://schemas.openxmlformats.org/officeDocument/2006/relationships/tags" Target="../tags/tag64.xml"/><Relationship Id="rId63" Type="http://schemas.openxmlformats.org/officeDocument/2006/relationships/tags" Target="../tags/tag63.xml"/><Relationship Id="rId62" Type="http://schemas.openxmlformats.org/officeDocument/2006/relationships/tags" Target="../tags/tag62.xml"/><Relationship Id="rId61" Type="http://schemas.openxmlformats.org/officeDocument/2006/relationships/tags" Target="../tags/tag61.xml"/><Relationship Id="rId60" Type="http://schemas.openxmlformats.org/officeDocument/2006/relationships/tags" Target="../tags/tag60.xml"/><Relationship Id="rId6" Type="http://schemas.openxmlformats.org/officeDocument/2006/relationships/tags" Target="../tags/tag6.xml"/><Relationship Id="rId59" Type="http://schemas.openxmlformats.org/officeDocument/2006/relationships/tags" Target="../tags/tag59.xml"/><Relationship Id="rId58" Type="http://schemas.openxmlformats.org/officeDocument/2006/relationships/tags" Target="../tags/tag58.xml"/><Relationship Id="rId57" Type="http://schemas.openxmlformats.org/officeDocument/2006/relationships/tags" Target="../tags/tag57.xml"/><Relationship Id="rId56" Type="http://schemas.openxmlformats.org/officeDocument/2006/relationships/tags" Target="../tags/tag56.xml"/><Relationship Id="rId55" Type="http://schemas.openxmlformats.org/officeDocument/2006/relationships/tags" Target="../tags/tag55.xml"/><Relationship Id="rId54" Type="http://schemas.openxmlformats.org/officeDocument/2006/relationships/tags" Target="../tags/tag54.xml"/><Relationship Id="rId53" Type="http://schemas.openxmlformats.org/officeDocument/2006/relationships/tags" Target="../tags/tag53.xml"/><Relationship Id="rId52" Type="http://schemas.openxmlformats.org/officeDocument/2006/relationships/tags" Target="../tags/tag52.xml"/><Relationship Id="rId51" Type="http://schemas.openxmlformats.org/officeDocument/2006/relationships/tags" Target="../tags/tag51.xml"/><Relationship Id="rId50" Type="http://schemas.openxmlformats.org/officeDocument/2006/relationships/tags" Target="../tags/tag50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High purity substrate"/>
          <p:cNvGrpSpPr/>
          <p:nvPr>
            <p:custDataLst>
              <p:tags r:id="rId1"/>
            </p:custDataLst>
          </p:nvPr>
        </p:nvGrpSpPr>
        <p:grpSpPr>
          <a:xfrm>
            <a:off x="1158240" y="3413760"/>
            <a:ext cx="7940040" cy="2636520"/>
            <a:chOff x="1158240" y="3413760"/>
            <a:chExt cx="7940040" cy="2636520"/>
          </a:xfrm>
        </p:grpSpPr>
        <p:sp>
          <p:nvSpPr>
            <p:cNvPr id="3" name="High purity substrate-front"/>
            <p:cNvSpPr/>
            <p:nvPr>
              <p:custDataLst>
                <p:tags r:id="rId2"/>
              </p:custDataLst>
            </p:nvPr>
          </p:nvSpPr>
          <p:spPr>
            <a:xfrm>
              <a:off x="1158240" y="4312920"/>
              <a:ext cx="5349240" cy="1737360"/>
            </a:xfrm>
            <a:custGeom>
              <a:avLst/>
              <a:gdLst/>
              <a:ahLst/>
              <a:cxnLst/>
              <a:rect l="l" t="t" r="r" b="b"/>
              <a:pathLst>
                <a:path w="351000" h="114000">
                  <a:moveTo>
                    <a:pt x="0" y="0"/>
                  </a:moveTo>
                  <a:lnTo>
                    <a:pt x="351000" y="53000"/>
                  </a:lnTo>
                  <a:lnTo>
                    <a:pt x="351000" y="114000"/>
                  </a:lnTo>
                  <a:lnTo>
                    <a:pt x="0" y="6100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4" name="High purity substrate-right"/>
            <p:cNvSpPr/>
            <p:nvPr>
              <p:custDataLst>
                <p:tags r:id="rId3"/>
              </p:custDataLst>
            </p:nvPr>
          </p:nvSpPr>
          <p:spPr>
            <a:xfrm>
              <a:off x="6507480" y="3413760"/>
              <a:ext cx="2590800" cy="2636520"/>
            </a:xfrm>
            <a:custGeom>
              <a:avLst/>
              <a:gdLst/>
              <a:ahLst/>
              <a:cxnLst/>
              <a:rect l="l" t="t" r="r" b="b"/>
              <a:pathLst>
                <a:path w="170000" h="173000">
                  <a:moveTo>
                    <a:pt x="0" y="112000"/>
                  </a:moveTo>
                  <a:lnTo>
                    <a:pt x="170000" y="0"/>
                  </a:lnTo>
                  <a:lnTo>
                    <a:pt x="170000" y="61000"/>
                  </a:lnTo>
                  <a:lnTo>
                    <a:pt x="0" y="17300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</p:grpSp>
      <p:grpSp>
        <p:nvGrpSpPr>
          <p:cNvPr id="5" name="Bottom contact"/>
          <p:cNvGrpSpPr/>
          <p:nvPr>
            <p:custDataLst>
              <p:tags r:id="rId4"/>
            </p:custDataLst>
          </p:nvPr>
        </p:nvGrpSpPr>
        <p:grpSpPr>
          <a:xfrm>
            <a:off x="1158240" y="3078480"/>
            <a:ext cx="7940040" cy="2042160"/>
            <a:chOff x="1158240" y="3078480"/>
            <a:chExt cx="7940040" cy="2042160"/>
          </a:xfrm>
        </p:grpSpPr>
        <p:sp>
          <p:nvSpPr>
            <p:cNvPr id="6" name="Bottom contact-front"/>
            <p:cNvSpPr/>
            <p:nvPr>
              <p:custDataLst>
                <p:tags r:id="rId5"/>
              </p:custDataLst>
            </p:nvPr>
          </p:nvSpPr>
          <p:spPr>
            <a:xfrm>
              <a:off x="1158240" y="3977640"/>
              <a:ext cx="5349240" cy="1143000"/>
            </a:xfrm>
            <a:custGeom>
              <a:avLst/>
              <a:gdLst/>
              <a:ahLst/>
              <a:cxnLst/>
              <a:rect l="l" t="t" r="r" b="b"/>
              <a:pathLst>
                <a:path w="351000" h="75000">
                  <a:moveTo>
                    <a:pt x="0" y="0"/>
                  </a:moveTo>
                  <a:lnTo>
                    <a:pt x="351000" y="53000"/>
                  </a:lnTo>
                  <a:lnTo>
                    <a:pt x="351000" y="75000"/>
                  </a:lnTo>
                  <a:lnTo>
                    <a:pt x="0" y="22000"/>
                  </a:lnTo>
                  <a:close/>
                </a:path>
              </a:pathLst>
            </a:custGeom>
            <a:solidFill>
              <a:srgbClr val="B9C9B0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7" name="Bottom contact-right"/>
            <p:cNvSpPr/>
            <p:nvPr>
              <p:custDataLst>
                <p:tags r:id="rId6"/>
              </p:custDataLst>
            </p:nvPr>
          </p:nvSpPr>
          <p:spPr>
            <a:xfrm>
              <a:off x="6507480" y="3078480"/>
              <a:ext cx="2590800" cy="2042160"/>
            </a:xfrm>
            <a:custGeom>
              <a:avLst/>
              <a:gdLst/>
              <a:ahLst/>
              <a:cxnLst/>
              <a:rect l="l" t="t" r="r" b="b"/>
              <a:pathLst>
                <a:path w="170000" h="134000">
                  <a:moveTo>
                    <a:pt x="0" y="112000"/>
                  </a:moveTo>
                  <a:lnTo>
                    <a:pt x="170000" y="0"/>
                  </a:lnTo>
                  <a:lnTo>
                    <a:pt x="170000" y="22000"/>
                  </a:lnTo>
                  <a:lnTo>
                    <a:pt x="0" y="134000"/>
                  </a:lnTo>
                  <a:close/>
                </a:path>
              </a:pathLst>
            </a:custGeom>
            <a:solidFill>
              <a:srgbClr val="CFDCC2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</p:grpSp>
      <p:grpSp>
        <p:nvGrpSpPr>
          <p:cNvPr id="8" name="AL"/>
          <p:cNvGrpSpPr/>
          <p:nvPr>
            <p:custDataLst>
              <p:tags r:id="rId7"/>
            </p:custDataLst>
          </p:nvPr>
        </p:nvGrpSpPr>
        <p:grpSpPr>
          <a:xfrm>
            <a:off x="1158240" y="2301240"/>
            <a:ext cx="7940040" cy="2484120"/>
            <a:chOff x="1158240" y="2301240"/>
            <a:chExt cx="7940040" cy="2484120"/>
          </a:xfrm>
        </p:grpSpPr>
        <p:sp>
          <p:nvSpPr>
            <p:cNvPr id="9" name="AL-front"/>
            <p:cNvSpPr/>
            <p:nvPr>
              <p:custDataLst>
                <p:tags r:id="rId8"/>
              </p:custDataLst>
            </p:nvPr>
          </p:nvSpPr>
          <p:spPr>
            <a:xfrm>
              <a:off x="1158240" y="3215640"/>
              <a:ext cx="5349240" cy="1569720"/>
            </a:xfrm>
            <a:custGeom>
              <a:avLst/>
              <a:gdLst/>
              <a:ahLst/>
              <a:cxnLst/>
              <a:rect l="l" t="t" r="r" b="b"/>
              <a:pathLst>
                <a:path w="351000" h="103000">
                  <a:moveTo>
                    <a:pt x="0" y="0"/>
                  </a:moveTo>
                  <a:lnTo>
                    <a:pt x="351000" y="52000"/>
                  </a:lnTo>
                  <a:lnTo>
                    <a:pt x="351000" y="103000"/>
                  </a:lnTo>
                  <a:lnTo>
                    <a:pt x="0" y="50000"/>
                  </a:lnTo>
                  <a:close/>
                </a:path>
              </a:pathLst>
            </a:custGeom>
            <a:solidFill>
              <a:srgbClr val="EAD59B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10" name="AL-right"/>
            <p:cNvSpPr/>
            <p:nvPr>
              <p:custDataLst>
                <p:tags r:id="rId9"/>
              </p:custDataLst>
            </p:nvPr>
          </p:nvSpPr>
          <p:spPr>
            <a:xfrm>
              <a:off x="6507480" y="2301240"/>
              <a:ext cx="2590800" cy="2484120"/>
            </a:xfrm>
            <a:custGeom>
              <a:avLst/>
              <a:gdLst/>
              <a:ahLst/>
              <a:cxnLst/>
              <a:rect l="l" t="t" r="r" b="b"/>
              <a:pathLst>
                <a:path w="170000" h="163000">
                  <a:moveTo>
                    <a:pt x="0" y="112000"/>
                  </a:moveTo>
                  <a:lnTo>
                    <a:pt x="170000" y="0"/>
                  </a:lnTo>
                  <a:lnTo>
                    <a:pt x="170000" y="51000"/>
                  </a:lnTo>
                  <a:lnTo>
                    <a:pt x="0" y="163000"/>
                  </a:lnTo>
                  <a:close/>
                </a:path>
              </a:pathLst>
            </a:custGeom>
            <a:solidFill>
              <a:srgbClr val="F1E2B8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</p:grpSp>
      <p:grpSp>
        <p:nvGrpSpPr>
          <p:cNvPr id="11" name="BL"/>
          <p:cNvGrpSpPr/>
          <p:nvPr>
            <p:custDataLst>
              <p:tags r:id="rId10"/>
            </p:custDataLst>
          </p:nvPr>
        </p:nvGrpSpPr>
        <p:grpSpPr>
          <a:xfrm>
            <a:off x="1158240" y="1737360"/>
            <a:ext cx="7940040" cy="2270760"/>
            <a:chOff x="1158240" y="1737360"/>
            <a:chExt cx="7940040" cy="2270760"/>
          </a:xfrm>
        </p:grpSpPr>
        <p:sp>
          <p:nvSpPr>
            <p:cNvPr id="12" name="BL-front"/>
            <p:cNvSpPr/>
            <p:nvPr>
              <p:custDataLst>
                <p:tags r:id="rId11"/>
              </p:custDataLst>
            </p:nvPr>
          </p:nvSpPr>
          <p:spPr>
            <a:xfrm>
              <a:off x="1158240" y="2621280"/>
              <a:ext cx="5349240" cy="1386840"/>
            </a:xfrm>
            <a:custGeom>
              <a:avLst/>
              <a:gdLst/>
              <a:ahLst/>
              <a:cxnLst/>
              <a:rect l="l" t="t" r="r" b="b"/>
              <a:pathLst>
                <a:path w="351000" h="91000">
                  <a:moveTo>
                    <a:pt x="0" y="0"/>
                  </a:moveTo>
                  <a:lnTo>
                    <a:pt x="351000" y="54000"/>
                  </a:lnTo>
                  <a:lnTo>
                    <a:pt x="351000" y="91000"/>
                  </a:lnTo>
                  <a:lnTo>
                    <a:pt x="0" y="39000"/>
                  </a:lnTo>
                  <a:close/>
                </a:path>
              </a:pathLst>
            </a:custGeom>
            <a:solidFill>
              <a:srgbClr val="A9CDDA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13" name="BL-right"/>
            <p:cNvSpPr/>
            <p:nvPr>
              <p:custDataLst>
                <p:tags r:id="rId12"/>
              </p:custDataLst>
            </p:nvPr>
          </p:nvSpPr>
          <p:spPr>
            <a:xfrm>
              <a:off x="6507480" y="1737360"/>
              <a:ext cx="2590800" cy="2270760"/>
            </a:xfrm>
            <a:custGeom>
              <a:avLst/>
              <a:gdLst/>
              <a:ahLst/>
              <a:cxnLst/>
              <a:rect l="l" t="t" r="r" b="b"/>
              <a:pathLst>
                <a:path w="170000" h="149000">
                  <a:moveTo>
                    <a:pt x="0" y="112000"/>
                  </a:moveTo>
                  <a:lnTo>
                    <a:pt x="170000" y="0"/>
                  </a:lnTo>
                  <a:lnTo>
                    <a:pt x="170000" y="37000"/>
                  </a:lnTo>
                  <a:lnTo>
                    <a:pt x="0" y="149000"/>
                  </a:lnTo>
                  <a:close/>
                </a:path>
              </a:pathLst>
            </a:custGeom>
            <a:solidFill>
              <a:srgbClr val="C1DDE6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</p:grpSp>
      <p:grpSp>
        <p:nvGrpSpPr>
          <p:cNvPr id="14" name="Passivation layer"/>
          <p:cNvGrpSpPr/>
          <p:nvPr>
            <p:custDataLst>
              <p:tags r:id="rId13"/>
            </p:custDataLst>
          </p:nvPr>
        </p:nvGrpSpPr>
        <p:grpSpPr>
          <a:xfrm>
            <a:off x="1158240" y="609600"/>
            <a:ext cx="7940040" cy="2956560"/>
            <a:chOff x="1158240" y="609600"/>
            <a:chExt cx="7940040" cy="2956560"/>
          </a:xfrm>
        </p:grpSpPr>
        <p:sp>
          <p:nvSpPr>
            <p:cNvPr id="15" name="Passivation-continuous-surface"/>
            <p:cNvSpPr/>
            <p:nvPr>
              <p:custDataLst>
                <p:tags r:id="rId14"/>
              </p:custDataLst>
            </p:nvPr>
          </p:nvSpPr>
          <p:spPr>
            <a:xfrm>
              <a:off x="1158240" y="914400"/>
              <a:ext cx="7940040" cy="2651760"/>
            </a:xfrm>
            <a:custGeom>
              <a:avLst/>
              <a:gdLst/>
              <a:ahLst/>
              <a:cxnLst/>
              <a:rect l="l" t="t" r="r" b="b"/>
              <a:pathLst>
                <a:path w="521000" h="174000">
                  <a:moveTo>
                    <a:pt x="0" y="112000"/>
                  </a:moveTo>
                  <a:lnTo>
                    <a:pt x="170000" y="0"/>
                  </a:lnTo>
                  <a:lnTo>
                    <a:pt x="211000" y="8000"/>
                  </a:lnTo>
                  <a:lnTo>
                    <a:pt x="521000" y="54000"/>
                  </a:lnTo>
                  <a:lnTo>
                    <a:pt x="521000" y="62000"/>
                  </a:lnTo>
                  <a:lnTo>
                    <a:pt x="351000" y="174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639BB5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16" name="Groove-rear-opening"/>
            <p:cNvSpPr/>
            <p:nvPr>
              <p:custDataLst>
                <p:tags r:id="rId15"/>
              </p:custDataLst>
            </p:nvPr>
          </p:nvSpPr>
          <p:spPr>
            <a:xfrm>
              <a:off x="4373880" y="609600"/>
              <a:ext cx="1097280" cy="1234440"/>
            </a:xfrm>
            <a:custGeom>
              <a:avLst/>
              <a:gdLst/>
              <a:ahLst/>
              <a:cxnLst/>
              <a:rect l="l" t="t" r="r" b="b"/>
              <a:pathLst>
                <a:path w="72000" h="81000">
                  <a:moveTo>
                    <a:pt x="0" y="0"/>
                  </a:moveTo>
                  <a:lnTo>
                    <a:pt x="72000" y="0"/>
                  </a:lnTo>
                  <a:lnTo>
                    <a:pt x="72000" y="33000"/>
                  </a:lnTo>
                  <a:lnTo>
                    <a:pt x="0" y="8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</p:grpSp>
      <p:grpSp>
        <p:nvGrpSpPr>
          <p:cNvPr id="17" name="V groove and grounded Al contact"/>
          <p:cNvGrpSpPr/>
          <p:nvPr>
            <p:custDataLst>
              <p:tags r:id="rId16"/>
            </p:custDataLst>
          </p:nvPr>
        </p:nvGrpSpPr>
        <p:grpSpPr>
          <a:xfrm>
            <a:off x="1158240" y="914400"/>
            <a:ext cx="4922520" cy="3627120"/>
            <a:chOff x="1158240" y="914400"/>
            <a:chExt cx="4922520" cy="3627120"/>
          </a:xfrm>
        </p:grpSpPr>
        <p:sp>
          <p:nvSpPr>
            <p:cNvPr id="18" name="Groove-continuous-metal"/>
            <p:cNvSpPr/>
            <p:nvPr>
              <p:custDataLst>
                <p:tags r:id="rId17"/>
              </p:custDataLst>
            </p:nvPr>
          </p:nvSpPr>
          <p:spPr>
            <a:xfrm>
              <a:off x="1158240" y="914400"/>
              <a:ext cx="4922520" cy="3627120"/>
            </a:xfrm>
            <a:custGeom>
              <a:avLst/>
              <a:gdLst/>
              <a:ahLst/>
              <a:cxnLst/>
              <a:rect l="l" t="t" r="r" b="b"/>
              <a:pathLst>
                <a:path w="323000" h="238000">
                  <a:moveTo>
                    <a:pt x="0" y="112000"/>
                  </a:moveTo>
                  <a:lnTo>
                    <a:pt x="170000" y="0"/>
                  </a:lnTo>
                  <a:lnTo>
                    <a:pt x="211000" y="8000"/>
                  </a:lnTo>
                  <a:lnTo>
                    <a:pt x="211000" y="61000"/>
                  </a:lnTo>
                  <a:lnTo>
                    <a:pt x="283000" y="13000"/>
                  </a:lnTo>
                  <a:lnTo>
                    <a:pt x="323000" y="19000"/>
                  </a:lnTo>
                  <a:lnTo>
                    <a:pt x="323000" y="22000"/>
                  </a:lnTo>
                  <a:lnTo>
                    <a:pt x="151000" y="134000"/>
                  </a:lnTo>
                  <a:lnTo>
                    <a:pt x="114761" y="128000"/>
                  </a:lnTo>
                  <a:lnTo>
                    <a:pt x="106000" y="238000"/>
                  </a:lnTo>
                  <a:lnTo>
                    <a:pt x="55000" y="229000"/>
                  </a:lnTo>
                  <a:lnTo>
                    <a:pt x="44292" y="122000"/>
                  </a:lnTo>
                  <a:lnTo>
                    <a:pt x="0" y="115000"/>
                  </a:lnTo>
                  <a:close/>
                </a:path>
              </a:pathLst>
            </a:custGeom>
            <a:solidFill>
              <a:srgbClr val="DFA95F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</p:grpSp>
      <p:grpSp>
        <p:nvGrpSpPr>
          <p:cNvPr id="19" name="Top contact pads"/>
          <p:cNvGrpSpPr/>
          <p:nvPr>
            <p:custDataLst>
              <p:tags r:id="rId18"/>
            </p:custDataLst>
          </p:nvPr>
        </p:nvGrpSpPr>
        <p:grpSpPr>
          <a:xfrm>
            <a:off x="5425440" y="1577431"/>
            <a:ext cx="3307080" cy="1927769"/>
            <a:chOff x="5425440" y="1577431"/>
            <a:chExt cx="3307080" cy="1927769"/>
          </a:xfrm>
        </p:grpSpPr>
        <p:sp>
          <p:nvSpPr>
            <p:cNvPr id="20" name="Top-contact-front-pale-underface"/>
            <p:cNvSpPr/>
            <p:nvPr>
              <p:custDataLst>
                <p:tags r:id="rId19"/>
              </p:custDataLst>
            </p:nvPr>
          </p:nvSpPr>
          <p:spPr>
            <a:xfrm>
              <a:off x="5425440" y="3307080"/>
              <a:ext cx="640080" cy="198120"/>
            </a:xfrm>
            <a:custGeom>
              <a:avLst/>
              <a:gdLst/>
              <a:ahLst/>
              <a:cxnLst/>
              <a:rect l="l" t="t" r="r" b="b"/>
              <a:pathLst>
                <a:path w="42000" h="13000">
                  <a:moveTo>
                    <a:pt x="0" y="0"/>
                  </a:moveTo>
                  <a:lnTo>
                    <a:pt x="42000" y="7000"/>
                  </a:lnTo>
                  <a:lnTo>
                    <a:pt x="42000" y="13000"/>
                  </a:lnTo>
                  <a:lnTo>
                    <a:pt x="0" y="6000"/>
                  </a:lnTo>
                  <a:close/>
                </a:path>
              </a:pathLst>
            </a:custGeom>
            <a:solidFill>
              <a:srgbClr val="E9BEC2">
                <a:alpha val="42000"/>
              </a:srgbClr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21" name="Top-contact-front"/>
            <p:cNvSpPr/>
            <p:nvPr>
              <p:custDataLst>
                <p:tags r:id="rId20"/>
              </p:custDataLst>
            </p:nvPr>
          </p:nvSpPr>
          <p:spPr>
            <a:xfrm>
              <a:off x="5425440" y="3093720"/>
              <a:ext cx="822960" cy="320040"/>
            </a:xfrm>
            <a:custGeom>
              <a:avLst/>
              <a:gdLst/>
              <a:ahLst/>
              <a:cxnLst/>
              <a:rect l="l" t="t" r="r" b="b"/>
              <a:pathLst>
                <a:path w="54000" h="21000">
                  <a:moveTo>
                    <a:pt x="0" y="11000"/>
                  </a:moveTo>
                  <a:lnTo>
                    <a:pt x="16000" y="0"/>
                  </a:lnTo>
                  <a:lnTo>
                    <a:pt x="54000" y="6000"/>
                  </a:lnTo>
                  <a:lnTo>
                    <a:pt x="54000" y="9000"/>
                  </a:lnTo>
                  <a:lnTo>
                    <a:pt x="42000" y="21000"/>
                  </a:lnTo>
                  <a:lnTo>
                    <a:pt x="0" y="14000"/>
                  </a:lnTo>
                  <a:close/>
                </a:path>
              </a:pathLst>
            </a:custGeom>
            <a:solidFill>
              <a:srgbClr val="DFA95F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22" name="Top-contact-middle"/>
            <p:cNvSpPr/>
            <p:nvPr>
              <p:custDataLst>
                <p:tags r:id="rId21"/>
              </p:custDataLst>
            </p:nvPr>
          </p:nvSpPr>
          <p:spPr>
            <a:xfrm>
              <a:off x="6309360" y="2284750"/>
              <a:ext cx="1188720" cy="467243"/>
            </a:xfrm>
            <a:custGeom>
              <a:avLst/>
              <a:gdLst/>
              <a:ahLst/>
              <a:cxnLst/>
              <a:rect l="l" t="t" r="r" b="b"/>
              <a:pathLst>
                <a:path w="78000" h="30659">
                  <a:moveTo>
                    <a:pt x="0" y="21082"/>
                  </a:moveTo>
                  <a:lnTo>
                    <a:pt x="32000" y="0"/>
                  </a:lnTo>
                  <a:lnTo>
                    <a:pt x="78000" y="7077"/>
                  </a:lnTo>
                  <a:lnTo>
                    <a:pt x="78000" y="9577"/>
                  </a:lnTo>
                  <a:lnTo>
                    <a:pt x="46000" y="30659"/>
                  </a:lnTo>
                  <a:lnTo>
                    <a:pt x="0" y="23582"/>
                  </a:lnTo>
                  <a:close/>
                </a:path>
              </a:pathLst>
            </a:custGeom>
            <a:solidFill>
              <a:srgbClr val="DFA95F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23" name="Top-contact-rear"/>
            <p:cNvSpPr/>
            <p:nvPr>
              <p:custDataLst>
                <p:tags r:id="rId22"/>
              </p:custDataLst>
            </p:nvPr>
          </p:nvSpPr>
          <p:spPr>
            <a:xfrm>
              <a:off x="7772400" y="1577431"/>
              <a:ext cx="960120" cy="355122"/>
            </a:xfrm>
            <a:custGeom>
              <a:avLst/>
              <a:gdLst/>
              <a:ahLst/>
              <a:cxnLst/>
              <a:rect l="l" t="t" r="r" b="b"/>
              <a:pathLst>
                <a:path w="63000" h="23302">
                  <a:moveTo>
                    <a:pt x="0" y="14494"/>
                  </a:moveTo>
                  <a:lnTo>
                    <a:pt x="22000" y="0"/>
                  </a:lnTo>
                  <a:lnTo>
                    <a:pt x="63000" y="6308"/>
                  </a:lnTo>
                  <a:lnTo>
                    <a:pt x="63000" y="8808"/>
                  </a:lnTo>
                  <a:lnTo>
                    <a:pt x="41000" y="23302"/>
                  </a:lnTo>
                  <a:lnTo>
                    <a:pt x="0" y="16994"/>
                  </a:lnTo>
                  <a:close/>
                </a:path>
              </a:pathLst>
            </a:custGeom>
            <a:solidFill>
              <a:srgbClr val="DFA95F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</p:grpSp>
      <p:grpSp>
        <p:nvGrpSpPr>
          <p:cNvPr id="24" name="Yellow dashed contours"/>
          <p:cNvGrpSpPr/>
          <p:nvPr>
            <p:custDataLst>
              <p:tags r:id="rId23"/>
            </p:custDataLst>
          </p:nvPr>
        </p:nvGrpSpPr>
        <p:grpSpPr>
          <a:xfrm>
            <a:off x="4145280" y="1439552"/>
            <a:ext cx="3642359" cy="1759675"/>
            <a:chOff x="4145280" y="1439552"/>
            <a:chExt cx="3642359" cy="1759675"/>
          </a:xfrm>
        </p:grpSpPr>
        <p:cxnSp>
          <p:nvCxnSpPr>
            <p:cNvPr id="25" name="front-contour-dash0-0-0"/>
            <p:cNvCxnSpPr/>
            <p:nvPr>
              <p:custDataLst>
                <p:tags r:id="rId24"/>
              </p:custDataLst>
            </p:nvPr>
          </p:nvCxnSpPr>
          <p:spPr>
            <a:xfrm flipV="1">
              <a:off x="4145280" y="2958905"/>
              <a:ext cx="65836" cy="43375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front-contour-dash0-1-0"/>
            <p:cNvCxnSpPr/>
            <p:nvPr>
              <p:custDataLst>
                <p:tags r:id="rId25"/>
              </p:custDataLst>
            </p:nvPr>
          </p:nvCxnSpPr>
          <p:spPr>
            <a:xfrm flipV="1">
              <a:off x="4323283" y="2841632"/>
              <a:ext cx="65837" cy="43375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front-contour-dash1-0-0"/>
            <p:cNvCxnSpPr/>
            <p:nvPr>
              <p:custDataLst>
                <p:tags r:id="rId26"/>
              </p:custDataLst>
            </p:nvPr>
          </p:nvCxnSpPr>
          <p:spPr>
            <a:xfrm>
              <a:off x="4389120" y="2841632"/>
              <a:ext cx="49377" cy="7597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front-contour-dash1-1-0"/>
            <p:cNvCxnSpPr/>
            <p:nvPr>
              <p:custDataLst>
                <p:tags r:id="rId27"/>
              </p:custDataLst>
            </p:nvPr>
          </p:nvCxnSpPr>
          <p:spPr>
            <a:xfrm>
              <a:off x="4522622" y="2862171"/>
              <a:ext cx="98755" cy="15193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front-contour-dash1-2-0"/>
            <p:cNvCxnSpPr/>
            <p:nvPr>
              <p:custDataLst>
                <p:tags r:id="rId28"/>
              </p:custDataLst>
            </p:nvPr>
          </p:nvCxnSpPr>
          <p:spPr>
            <a:xfrm>
              <a:off x="4705502" y="2890306"/>
              <a:ext cx="98755" cy="15193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front-contour-dash1-3-0"/>
            <p:cNvCxnSpPr/>
            <p:nvPr>
              <p:custDataLst>
                <p:tags r:id="rId29"/>
              </p:custDataLst>
            </p:nvPr>
          </p:nvCxnSpPr>
          <p:spPr>
            <a:xfrm>
              <a:off x="4888382" y="2918442"/>
              <a:ext cx="98755" cy="15193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front-contour-dash1-4-0"/>
            <p:cNvCxnSpPr/>
            <p:nvPr>
              <p:custDataLst>
                <p:tags r:id="rId30"/>
              </p:custDataLst>
            </p:nvPr>
          </p:nvCxnSpPr>
          <p:spPr>
            <a:xfrm>
              <a:off x="5071262" y="2946577"/>
              <a:ext cx="98755" cy="15193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front-contour-dash1-5-0"/>
            <p:cNvCxnSpPr/>
            <p:nvPr>
              <p:custDataLst>
                <p:tags r:id="rId31"/>
              </p:custDataLst>
            </p:nvPr>
          </p:nvCxnSpPr>
          <p:spPr>
            <a:xfrm>
              <a:off x="5254142" y="2974712"/>
              <a:ext cx="98755" cy="15193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front-contour-dash1-6-0"/>
            <p:cNvCxnSpPr/>
            <p:nvPr>
              <p:custDataLst>
                <p:tags r:id="rId32"/>
              </p:custDataLst>
            </p:nvPr>
          </p:nvCxnSpPr>
          <p:spPr>
            <a:xfrm>
              <a:off x="5437022" y="3002848"/>
              <a:ext cx="98755" cy="15193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front-contour-dash1-7-0"/>
            <p:cNvCxnSpPr/>
            <p:nvPr>
              <p:custDataLst>
                <p:tags r:id="rId33"/>
              </p:custDataLst>
            </p:nvPr>
          </p:nvCxnSpPr>
          <p:spPr>
            <a:xfrm>
              <a:off x="5619902" y="3030983"/>
              <a:ext cx="49378" cy="7597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front-contour-dash2-0-0"/>
            <p:cNvCxnSpPr/>
            <p:nvPr>
              <p:custDataLst>
                <p:tags r:id="rId34"/>
              </p:custDataLst>
            </p:nvPr>
          </p:nvCxnSpPr>
          <p:spPr>
            <a:xfrm flipH="1">
              <a:off x="5603443" y="3038580"/>
              <a:ext cx="65837" cy="43375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front-contour-dash2-1-0"/>
            <p:cNvCxnSpPr/>
            <p:nvPr>
              <p:custDataLst>
                <p:tags r:id="rId35"/>
              </p:custDataLst>
            </p:nvPr>
          </p:nvCxnSpPr>
          <p:spPr>
            <a:xfrm flipH="1">
              <a:off x="5425440" y="3155852"/>
              <a:ext cx="65836" cy="43375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middle-contour-dash0-0-0"/>
            <p:cNvCxnSpPr/>
            <p:nvPr>
              <p:custDataLst>
                <p:tags r:id="rId36"/>
              </p:custDataLst>
            </p:nvPr>
          </p:nvCxnSpPr>
          <p:spPr>
            <a:xfrm flipH="1" flipV="1">
              <a:off x="5948598" y="2604464"/>
              <a:ext cx="55962" cy="8609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middle-contour-dash0-1-0"/>
            <p:cNvCxnSpPr/>
            <p:nvPr>
              <p:custDataLst>
                <p:tags r:id="rId37"/>
              </p:custDataLst>
            </p:nvPr>
          </p:nvCxnSpPr>
          <p:spPr>
            <a:xfrm flipH="1" flipV="1">
              <a:off x="5741334" y="2572577"/>
              <a:ext cx="111923" cy="17219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middle-contour-dash0-2-0"/>
            <p:cNvCxnSpPr/>
            <p:nvPr>
              <p:custDataLst>
                <p:tags r:id="rId38"/>
              </p:custDataLst>
            </p:nvPr>
          </p:nvCxnSpPr>
          <p:spPr>
            <a:xfrm flipH="1" flipV="1">
              <a:off x="5534070" y="2540690"/>
              <a:ext cx="111923" cy="17219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middle-contour-dash0-3-0"/>
            <p:cNvCxnSpPr/>
            <p:nvPr>
              <p:custDataLst>
                <p:tags r:id="rId39"/>
              </p:custDataLst>
            </p:nvPr>
          </p:nvCxnSpPr>
          <p:spPr>
            <a:xfrm flipH="1" flipV="1">
              <a:off x="5326806" y="2508804"/>
              <a:ext cx="111923" cy="17218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middle-contour-dash0-4-0"/>
            <p:cNvCxnSpPr/>
            <p:nvPr>
              <p:custDataLst>
                <p:tags r:id="rId40"/>
              </p:custDataLst>
            </p:nvPr>
          </p:nvCxnSpPr>
          <p:spPr>
            <a:xfrm flipH="1" flipV="1">
              <a:off x="5119542" y="2476917"/>
              <a:ext cx="111923" cy="17219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middle-contour-dash0-5-0"/>
            <p:cNvCxnSpPr/>
            <p:nvPr>
              <p:custDataLst>
                <p:tags r:id="rId41"/>
              </p:custDataLst>
            </p:nvPr>
          </p:nvCxnSpPr>
          <p:spPr>
            <a:xfrm flipH="1" flipV="1">
              <a:off x="4968240" y="2453640"/>
              <a:ext cx="55961" cy="8609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middle-contour-dash1-0-0"/>
            <p:cNvCxnSpPr/>
            <p:nvPr>
              <p:custDataLst>
                <p:tags r:id="rId42"/>
              </p:custDataLst>
            </p:nvPr>
          </p:nvCxnSpPr>
          <p:spPr>
            <a:xfrm flipV="1">
              <a:off x="4968240" y="2423819"/>
              <a:ext cx="45262" cy="29821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middle-contour-dash1-1-0"/>
            <p:cNvCxnSpPr/>
            <p:nvPr>
              <p:custDataLst>
                <p:tags r:id="rId43"/>
              </p:custDataLst>
            </p:nvPr>
          </p:nvCxnSpPr>
          <p:spPr>
            <a:xfrm flipV="1">
              <a:off x="5090617" y="2313374"/>
              <a:ext cx="90525" cy="59641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middle-contour-dash1-2-0"/>
            <p:cNvCxnSpPr/>
            <p:nvPr>
              <p:custDataLst>
                <p:tags r:id="rId44"/>
              </p:custDataLst>
            </p:nvPr>
          </p:nvCxnSpPr>
          <p:spPr>
            <a:xfrm flipV="1">
              <a:off x="5258257" y="2202929"/>
              <a:ext cx="90525" cy="59640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middle-contour-dash1-3-0"/>
            <p:cNvCxnSpPr/>
            <p:nvPr>
              <p:custDataLst>
                <p:tags r:id="rId45"/>
              </p:custDataLst>
            </p:nvPr>
          </p:nvCxnSpPr>
          <p:spPr>
            <a:xfrm flipV="1">
              <a:off x="5425897" y="2092484"/>
              <a:ext cx="90525" cy="59640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middle-contour-dash1-4-0"/>
            <p:cNvCxnSpPr/>
            <p:nvPr>
              <p:custDataLst>
                <p:tags r:id="rId46"/>
              </p:custDataLst>
            </p:nvPr>
          </p:nvCxnSpPr>
          <p:spPr>
            <a:xfrm flipV="1">
              <a:off x="5593537" y="1982039"/>
              <a:ext cx="90525" cy="59640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middle-contour-dash1-5-0"/>
            <p:cNvCxnSpPr/>
            <p:nvPr>
              <p:custDataLst>
                <p:tags r:id="rId47"/>
              </p:custDataLst>
            </p:nvPr>
          </p:nvCxnSpPr>
          <p:spPr>
            <a:xfrm flipV="1">
              <a:off x="5761177" y="1901414"/>
              <a:ext cx="45263" cy="29820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middle-contour-dash2-0-0"/>
            <p:cNvCxnSpPr/>
            <p:nvPr>
              <p:custDataLst>
                <p:tags r:id="rId48"/>
              </p:custDataLst>
            </p:nvPr>
          </p:nvCxnSpPr>
          <p:spPr>
            <a:xfrm>
              <a:off x="5806440" y="1901414"/>
              <a:ext cx="55961" cy="8609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middle-contour-dash2-1-0"/>
            <p:cNvCxnSpPr/>
            <p:nvPr>
              <p:custDataLst>
                <p:tags r:id="rId49"/>
              </p:custDataLst>
            </p:nvPr>
          </p:nvCxnSpPr>
          <p:spPr>
            <a:xfrm>
              <a:off x="5957742" y="1924691"/>
              <a:ext cx="111923" cy="17219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middle-contour-dash2-2-0"/>
            <p:cNvCxnSpPr/>
            <p:nvPr>
              <p:custDataLst>
                <p:tags r:id="rId50"/>
              </p:custDataLst>
            </p:nvPr>
          </p:nvCxnSpPr>
          <p:spPr>
            <a:xfrm>
              <a:off x="6165006" y="1956578"/>
              <a:ext cx="111923" cy="17219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middle-contour-dash2-3-0"/>
            <p:cNvCxnSpPr/>
            <p:nvPr>
              <p:custDataLst>
                <p:tags r:id="rId51"/>
              </p:custDataLst>
            </p:nvPr>
          </p:nvCxnSpPr>
          <p:spPr>
            <a:xfrm>
              <a:off x="6372270" y="1988464"/>
              <a:ext cx="111923" cy="17219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middle-contour-dash2-4-0"/>
            <p:cNvCxnSpPr/>
            <p:nvPr>
              <p:custDataLst>
                <p:tags r:id="rId52"/>
              </p:custDataLst>
            </p:nvPr>
          </p:nvCxnSpPr>
          <p:spPr>
            <a:xfrm>
              <a:off x="6579534" y="2020351"/>
              <a:ext cx="111923" cy="17219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middle-contour-dash2-5-0"/>
            <p:cNvCxnSpPr/>
            <p:nvPr>
              <p:custDataLst>
                <p:tags r:id="rId53"/>
              </p:custDataLst>
            </p:nvPr>
          </p:nvCxnSpPr>
          <p:spPr>
            <a:xfrm>
              <a:off x="6786798" y="2052238"/>
              <a:ext cx="55962" cy="8609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middle-contour-dash3-0-0"/>
            <p:cNvCxnSpPr/>
            <p:nvPr>
              <p:custDataLst>
                <p:tags r:id="rId54"/>
              </p:custDataLst>
            </p:nvPr>
          </p:nvCxnSpPr>
          <p:spPr>
            <a:xfrm flipH="1">
              <a:off x="6797497" y="2060847"/>
              <a:ext cx="45263" cy="29821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middle-contour-dash3-1-0"/>
            <p:cNvCxnSpPr/>
            <p:nvPr>
              <p:custDataLst>
                <p:tags r:id="rId55"/>
              </p:custDataLst>
            </p:nvPr>
          </p:nvCxnSpPr>
          <p:spPr>
            <a:xfrm flipH="1">
              <a:off x="6629857" y="2141472"/>
              <a:ext cx="90525" cy="59641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middle-contour-dash3-2-0"/>
            <p:cNvCxnSpPr/>
            <p:nvPr>
              <p:custDataLst>
                <p:tags r:id="rId56"/>
              </p:custDataLst>
            </p:nvPr>
          </p:nvCxnSpPr>
          <p:spPr>
            <a:xfrm flipH="1">
              <a:off x="6462217" y="2251918"/>
              <a:ext cx="90525" cy="59640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middle-contour-dash3-3-0"/>
            <p:cNvCxnSpPr/>
            <p:nvPr>
              <p:custDataLst>
                <p:tags r:id="rId57"/>
              </p:custDataLst>
            </p:nvPr>
          </p:nvCxnSpPr>
          <p:spPr>
            <a:xfrm flipH="1">
              <a:off x="6294577" y="2362363"/>
              <a:ext cx="90525" cy="59640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middle-contour-dash3-4-0"/>
            <p:cNvCxnSpPr/>
            <p:nvPr>
              <p:custDataLst>
                <p:tags r:id="rId58"/>
              </p:custDataLst>
            </p:nvPr>
          </p:nvCxnSpPr>
          <p:spPr>
            <a:xfrm flipH="1">
              <a:off x="6126937" y="2472808"/>
              <a:ext cx="90525" cy="59640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middle-contour-dash3-5-0"/>
            <p:cNvCxnSpPr/>
            <p:nvPr>
              <p:custDataLst>
                <p:tags r:id="rId59"/>
              </p:custDataLst>
            </p:nvPr>
          </p:nvCxnSpPr>
          <p:spPr>
            <a:xfrm flipH="1">
              <a:off x="6004560" y="2583253"/>
              <a:ext cx="45262" cy="29820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rear-contour-dash0-0-0"/>
            <p:cNvCxnSpPr/>
            <p:nvPr>
              <p:custDataLst>
                <p:tags r:id="rId60"/>
              </p:custDataLst>
            </p:nvPr>
          </p:nvCxnSpPr>
          <p:spPr>
            <a:xfrm flipV="1">
              <a:off x="6370320" y="1556825"/>
              <a:ext cx="65836" cy="43375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rear-contour-dash0-1-0"/>
            <p:cNvCxnSpPr/>
            <p:nvPr>
              <p:custDataLst>
                <p:tags r:id="rId61"/>
              </p:custDataLst>
            </p:nvPr>
          </p:nvCxnSpPr>
          <p:spPr>
            <a:xfrm flipV="1">
              <a:off x="6548323" y="1439552"/>
              <a:ext cx="65837" cy="43375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rear-contour-long-dash0-0-0"/>
            <p:cNvCxnSpPr/>
            <p:nvPr>
              <p:custDataLst>
                <p:tags r:id="rId62"/>
              </p:custDataLst>
            </p:nvPr>
          </p:nvCxnSpPr>
          <p:spPr>
            <a:xfrm>
              <a:off x="6370320" y="1600200"/>
              <a:ext cx="52806" cy="8124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rear-contour-long-dash0-1-0"/>
            <p:cNvCxnSpPr/>
            <p:nvPr>
              <p:custDataLst>
                <p:tags r:id="rId63"/>
              </p:custDataLst>
            </p:nvPr>
          </p:nvCxnSpPr>
          <p:spPr>
            <a:xfrm>
              <a:off x="6513093" y="1622165"/>
              <a:ext cx="105613" cy="16248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rear-contour-long-dash0-2-0"/>
            <p:cNvCxnSpPr/>
            <p:nvPr>
              <p:custDataLst>
                <p:tags r:id="rId64"/>
              </p:custDataLst>
            </p:nvPr>
          </p:nvCxnSpPr>
          <p:spPr>
            <a:xfrm>
              <a:off x="6708673" y="1652254"/>
              <a:ext cx="105613" cy="16248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rear-contour-long-dash0-3-0"/>
            <p:cNvCxnSpPr/>
            <p:nvPr>
              <p:custDataLst>
                <p:tags r:id="rId65"/>
              </p:custDataLst>
            </p:nvPr>
          </p:nvCxnSpPr>
          <p:spPr>
            <a:xfrm>
              <a:off x="6904253" y="1682343"/>
              <a:ext cx="105613" cy="16248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rear-contour-long-dash0-4-0"/>
            <p:cNvCxnSpPr/>
            <p:nvPr>
              <p:custDataLst>
                <p:tags r:id="rId66"/>
              </p:custDataLst>
            </p:nvPr>
          </p:nvCxnSpPr>
          <p:spPr>
            <a:xfrm>
              <a:off x="7099833" y="1712432"/>
              <a:ext cx="105613" cy="16249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rear-contour-long-dash0-5-0"/>
            <p:cNvCxnSpPr/>
            <p:nvPr>
              <p:custDataLst>
                <p:tags r:id="rId67"/>
              </p:custDataLst>
            </p:nvPr>
          </p:nvCxnSpPr>
          <p:spPr>
            <a:xfrm>
              <a:off x="7295413" y="1742522"/>
              <a:ext cx="105613" cy="16248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rear-contour-long-dash0-6-0"/>
            <p:cNvCxnSpPr/>
            <p:nvPr>
              <p:custDataLst>
                <p:tags r:id="rId68"/>
              </p:custDataLst>
            </p:nvPr>
          </p:nvCxnSpPr>
          <p:spPr>
            <a:xfrm>
              <a:off x="7490993" y="1772611"/>
              <a:ext cx="52807" cy="8124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rear-contour-long-dash1-0-0"/>
            <p:cNvCxnSpPr/>
            <p:nvPr>
              <p:custDataLst>
                <p:tags r:id="rId69"/>
              </p:custDataLst>
            </p:nvPr>
          </p:nvCxnSpPr>
          <p:spPr>
            <a:xfrm flipV="1">
              <a:off x="7543800" y="1737360"/>
              <a:ext cx="65836" cy="43375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rear-contour-long-dash1-1-0"/>
            <p:cNvCxnSpPr/>
            <p:nvPr>
              <p:custDataLst>
                <p:tags r:id="rId70"/>
              </p:custDataLst>
            </p:nvPr>
          </p:nvCxnSpPr>
          <p:spPr>
            <a:xfrm flipV="1">
              <a:off x="7721803" y="1620087"/>
              <a:ext cx="65836" cy="43375"/>
            </a:xfrm>
            <a:prstGeom prst="line">
              <a:avLst/>
            </a:prstGeom>
            <a:ln w="19050">
              <a:solidFill>
                <a:srgbClr val="EAD59B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nd connection"/>
          <p:cNvGrpSpPr/>
          <p:nvPr>
            <p:custDataLst>
              <p:tags r:id="rId71"/>
            </p:custDataLst>
          </p:nvPr>
        </p:nvGrpSpPr>
        <p:grpSpPr>
          <a:xfrm>
            <a:off x="929640" y="899160"/>
            <a:ext cx="1706880" cy="1112520"/>
            <a:chOff x="929640" y="899160"/>
            <a:chExt cx="1706880" cy="1112520"/>
          </a:xfrm>
        </p:grpSpPr>
        <p:cxnSp>
          <p:nvCxnSpPr>
            <p:cNvPr id="73" name="Ground-wire-0"/>
            <p:cNvCxnSpPr/>
            <p:nvPr>
              <p:custDataLst>
                <p:tags r:id="rId72"/>
              </p:custDataLst>
            </p:nvPr>
          </p:nvCxnSpPr>
          <p:spPr>
            <a:xfrm flipV="1">
              <a:off x="2636520" y="1173480"/>
              <a:ext cx="0" cy="838200"/>
            </a:xfrm>
            <a:prstGeom prst="line">
              <a:avLst/>
            </a:prstGeom>
            <a:ln w="17780">
              <a:solidFill>
                <a:srgbClr val="222222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Ground-wire-1"/>
            <p:cNvCxnSpPr/>
            <p:nvPr>
              <p:custDataLst>
                <p:tags r:id="rId73"/>
              </p:custDataLst>
            </p:nvPr>
          </p:nvCxnSpPr>
          <p:spPr>
            <a:xfrm flipH="1" flipV="1">
              <a:off x="1143000" y="899160"/>
              <a:ext cx="1493520" cy="274320"/>
            </a:xfrm>
            <a:prstGeom prst="line">
              <a:avLst/>
            </a:prstGeom>
            <a:ln w="17780">
              <a:solidFill>
                <a:srgbClr val="222222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Ground-wire-2"/>
            <p:cNvCxnSpPr/>
            <p:nvPr>
              <p:custDataLst>
                <p:tags r:id="rId74"/>
              </p:custDataLst>
            </p:nvPr>
          </p:nvCxnSpPr>
          <p:spPr>
            <a:xfrm>
              <a:off x="1143000" y="899160"/>
              <a:ext cx="0" cy="640080"/>
            </a:xfrm>
            <a:prstGeom prst="line">
              <a:avLst/>
            </a:prstGeom>
            <a:ln w="17780">
              <a:solidFill>
                <a:srgbClr val="222222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Ground-bar0-0"/>
            <p:cNvCxnSpPr/>
            <p:nvPr>
              <p:custDataLst>
                <p:tags r:id="rId75"/>
              </p:custDataLst>
            </p:nvPr>
          </p:nvCxnSpPr>
          <p:spPr>
            <a:xfrm>
              <a:off x="929640" y="1539240"/>
              <a:ext cx="426720" cy="0"/>
            </a:xfrm>
            <a:prstGeom prst="line">
              <a:avLst/>
            </a:prstGeom>
            <a:ln w="17780">
              <a:solidFill>
                <a:srgbClr val="222222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Ground-bar1-0"/>
            <p:cNvCxnSpPr/>
            <p:nvPr>
              <p:custDataLst>
                <p:tags r:id="rId76"/>
              </p:custDataLst>
            </p:nvPr>
          </p:nvCxnSpPr>
          <p:spPr>
            <a:xfrm>
              <a:off x="1005840" y="1676400"/>
              <a:ext cx="274320" cy="0"/>
            </a:xfrm>
            <a:prstGeom prst="line">
              <a:avLst/>
            </a:prstGeom>
            <a:ln w="17780">
              <a:solidFill>
                <a:srgbClr val="222222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Ground-bar2-0"/>
            <p:cNvCxnSpPr/>
            <p:nvPr>
              <p:custDataLst>
                <p:tags r:id="rId77"/>
              </p:custDataLst>
            </p:nvPr>
          </p:nvCxnSpPr>
          <p:spPr>
            <a:xfrm>
              <a:off x="1082040" y="1798320"/>
              <a:ext cx="121920" cy="0"/>
            </a:xfrm>
            <a:prstGeom prst="line">
              <a:avLst/>
            </a:prstGeom>
            <a:ln w="17780">
              <a:solidFill>
                <a:srgbClr val="222222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Positive bias connection"/>
          <p:cNvGrpSpPr/>
          <p:nvPr>
            <p:custDataLst>
              <p:tags r:id="rId78"/>
            </p:custDataLst>
          </p:nvPr>
        </p:nvGrpSpPr>
        <p:grpSpPr>
          <a:xfrm>
            <a:off x="6995159" y="1767840"/>
            <a:ext cx="2453641" cy="1798320"/>
            <a:chOff x="6995159" y="1767840"/>
            <a:chExt cx="2453641" cy="1798320"/>
          </a:xfrm>
        </p:grpSpPr>
        <p:cxnSp>
          <p:nvCxnSpPr>
            <p:cNvPr id="80" name="Positive-wire-0"/>
            <p:cNvCxnSpPr/>
            <p:nvPr>
              <p:custDataLst>
                <p:tags r:id="rId79"/>
              </p:custDataLst>
            </p:nvPr>
          </p:nvCxnSpPr>
          <p:spPr>
            <a:xfrm flipV="1">
              <a:off x="6995159" y="1767840"/>
              <a:ext cx="0" cy="655320"/>
            </a:xfrm>
            <a:prstGeom prst="line">
              <a:avLst/>
            </a:prstGeom>
            <a:ln w="17780">
              <a:solidFill>
                <a:srgbClr val="222222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Positive-wire-1"/>
            <p:cNvCxnSpPr/>
            <p:nvPr>
              <p:custDataLst>
                <p:tags r:id="rId80"/>
              </p:custDataLst>
            </p:nvPr>
          </p:nvCxnSpPr>
          <p:spPr>
            <a:xfrm>
              <a:off x="6995159" y="1767840"/>
              <a:ext cx="2392681" cy="365760"/>
            </a:xfrm>
            <a:prstGeom prst="line">
              <a:avLst/>
            </a:prstGeom>
            <a:ln w="17780">
              <a:solidFill>
                <a:srgbClr val="222222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Positive-wire-2"/>
            <p:cNvCxnSpPr/>
            <p:nvPr>
              <p:custDataLst>
                <p:tags r:id="rId81"/>
              </p:custDataLst>
            </p:nvPr>
          </p:nvCxnSpPr>
          <p:spPr>
            <a:xfrm>
              <a:off x="9387840" y="2133600"/>
              <a:ext cx="0" cy="1310640"/>
            </a:xfrm>
            <a:prstGeom prst="line">
              <a:avLst/>
            </a:prstGeom>
            <a:ln w="17780">
              <a:solidFill>
                <a:srgbClr val="222222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Bias terminal"/>
            <p:cNvSpPr/>
            <p:nvPr>
              <p:custDataLst>
                <p:tags r:id="rId82"/>
              </p:custDataLst>
            </p:nvPr>
          </p:nvSpPr>
          <p:spPr>
            <a:xfrm>
              <a:off x="9326880" y="3444240"/>
              <a:ext cx="121920" cy="121920"/>
            </a:xfrm>
            <a:prstGeom prst="ellipse">
              <a:avLst/>
            </a:prstGeom>
            <a:solidFill>
              <a:srgbClr val="FFFFFF"/>
            </a:solidFill>
            <a:ln w="17780">
              <a:solidFill>
                <a:srgbClr val="222222"/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</p:grpSp>
      <p:sp>
        <p:nvSpPr>
          <p:cNvPr id="84" name="Label-passivation"/>
          <p:cNvSpPr txBox="1"/>
          <p:nvPr/>
        </p:nvSpPr>
        <p:spPr>
          <a:xfrm>
            <a:off x="5593080" y="336868"/>
            <a:ext cx="2240280" cy="33210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60" b="1">
                <a:solidFill>
                  <a:srgbClr val="000000"/>
                </a:solidFill>
                <a:latin typeface="Arial" panose="020B0604020202020204"/>
              </a:rPr>
              <a:t>Passivation layer</a:t>
            </a:r>
            <a:endParaRPr sz="2160" b="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85" name="Passivation pointer"/>
          <p:cNvGrpSpPr/>
          <p:nvPr>
            <p:custDataLst>
              <p:tags r:id="rId83"/>
            </p:custDataLst>
          </p:nvPr>
        </p:nvGrpSpPr>
        <p:grpSpPr>
          <a:xfrm>
            <a:off x="6156960" y="868680"/>
            <a:ext cx="121920" cy="792480"/>
            <a:chOff x="6156960" y="868680"/>
            <a:chExt cx="121920" cy="792480"/>
          </a:xfrm>
        </p:grpSpPr>
        <p:cxnSp>
          <p:nvCxnSpPr>
            <p:cNvPr id="86" name="Passivation pointer-0"/>
            <p:cNvCxnSpPr/>
            <p:nvPr>
              <p:custDataLst>
                <p:tags r:id="rId84"/>
              </p:custDataLst>
            </p:nvPr>
          </p:nvCxnSpPr>
          <p:spPr>
            <a:xfrm>
              <a:off x="6217920" y="868680"/>
              <a:ext cx="0" cy="655320"/>
            </a:xfrm>
            <a:prstGeom prst="line">
              <a:avLst/>
            </a:prstGeom>
            <a:ln w="27940">
              <a:solidFill>
                <a:srgbClr val="222222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Passivation pointer-head"/>
            <p:cNvSpPr/>
            <p:nvPr>
              <p:custDataLst>
                <p:tags r:id="rId85"/>
              </p:custDataLst>
            </p:nvPr>
          </p:nvSpPr>
          <p:spPr>
            <a:xfrm>
              <a:off x="6156960" y="1508760"/>
              <a:ext cx="121920" cy="152400"/>
            </a:xfrm>
            <a:custGeom>
              <a:avLst/>
              <a:gdLst/>
              <a:ahLst/>
              <a:cxnLst/>
              <a:rect l="l" t="t" r="r" b="b"/>
              <a:pathLst>
                <a:path w="8000" h="10000">
                  <a:moveTo>
                    <a:pt x="4000" y="10000"/>
                  </a:moveTo>
                  <a:lnTo>
                    <a:pt x="0" y="0"/>
                  </a:lnTo>
                  <a:lnTo>
                    <a:pt x="8000" y="0"/>
                  </a:lnTo>
                  <a:close/>
                </a:path>
              </a:pathLst>
            </a:custGeom>
            <a:solidFill>
              <a:srgbClr val="222222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</p:grpSp>
      <p:sp>
        <p:nvSpPr>
          <p:cNvPr id="88" name="Label-negative-contact"/>
          <p:cNvSpPr txBox="1"/>
          <p:nvPr>
            <p:custDataLst>
              <p:tags r:id="rId86"/>
            </p:custDataLst>
          </p:nvPr>
        </p:nvSpPr>
        <p:spPr>
          <a:xfrm>
            <a:off x="2773680" y="1830388"/>
            <a:ext cx="708660" cy="33210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60" b="1">
                <a:solidFill>
                  <a:srgbClr val="000000"/>
                </a:solidFill>
                <a:latin typeface="Arial" panose="020B0604020202020204"/>
              </a:rPr>
              <a:t>Al:V−</a:t>
            </a:r>
            <a:endParaRPr sz="2160" b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9" name="Label-positive-contact"/>
          <p:cNvSpPr txBox="1"/>
          <p:nvPr>
            <p:custDataLst>
              <p:tags r:id="rId87"/>
            </p:custDataLst>
          </p:nvPr>
        </p:nvSpPr>
        <p:spPr>
          <a:xfrm>
            <a:off x="6720840" y="2813368"/>
            <a:ext cx="708660" cy="33210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60" b="1">
                <a:solidFill>
                  <a:srgbClr val="000000"/>
                </a:solidFill>
                <a:latin typeface="Arial" panose="020B0604020202020204"/>
              </a:rPr>
              <a:t>Al:V+</a:t>
            </a:r>
            <a:endParaRPr sz="2160" b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0" name="Label-groove-1"/>
          <p:cNvSpPr txBox="1"/>
          <p:nvPr>
            <p:custDataLst>
              <p:tags r:id="rId88"/>
            </p:custDataLst>
          </p:nvPr>
        </p:nvSpPr>
        <p:spPr>
          <a:xfrm>
            <a:off x="2148839" y="3087688"/>
            <a:ext cx="182880" cy="33210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60" b="1">
                <a:solidFill>
                  <a:srgbClr val="000000"/>
                </a:solidFill>
                <a:latin typeface="Arial" panose="020B0604020202020204"/>
              </a:rPr>
              <a:t>V</a:t>
            </a:r>
            <a:endParaRPr sz="2160" b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1" name="Label-groove-2"/>
          <p:cNvSpPr txBox="1"/>
          <p:nvPr>
            <p:custDataLst>
              <p:tags r:id="rId89"/>
            </p:custDataLst>
          </p:nvPr>
        </p:nvSpPr>
        <p:spPr>
          <a:xfrm>
            <a:off x="1856105" y="3472180"/>
            <a:ext cx="814070" cy="2946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20" b="1">
                <a:solidFill>
                  <a:srgbClr val="000000"/>
                </a:solidFill>
                <a:latin typeface="Arial" panose="020B0604020202020204"/>
              </a:rPr>
              <a:t>groove</a:t>
            </a:r>
            <a:endParaRPr sz="1920" b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2" name="Label-BL"/>
          <p:cNvSpPr txBox="1"/>
          <p:nvPr>
            <p:custDataLst>
              <p:tags r:id="rId90"/>
            </p:custDataLst>
          </p:nvPr>
        </p:nvSpPr>
        <p:spPr>
          <a:xfrm rot="522000">
            <a:off x="4368800" y="3358833"/>
            <a:ext cx="406400" cy="36893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Arial" panose="020B0604020202020204"/>
              </a:rPr>
              <a:t>BL</a:t>
            </a:r>
            <a:endParaRPr sz="2400" b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3" name="Label-AL"/>
          <p:cNvSpPr txBox="1"/>
          <p:nvPr>
            <p:custDataLst>
              <p:tags r:id="rId91"/>
            </p:custDataLst>
          </p:nvPr>
        </p:nvSpPr>
        <p:spPr>
          <a:xfrm rot="522000">
            <a:off x="4239260" y="3991291"/>
            <a:ext cx="406400" cy="36893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Arial" panose="020B0604020202020204"/>
              </a:rPr>
              <a:t>AL</a:t>
            </a:r>
            <a:endParaRPr sz="2400" b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4" name="Label-bottom-contact"/>
          <p:cNvSpPr txBox="1"/>
          <p:nvPr>
            <p:custDataLst>
              <p:tags r:id="rId92"/>
            </p:custDataLst>
          </p:nvPr>
        </p:nvSpPr>
        <p:spPr>
          <a:xfrm rot="522000">
            <a:off x="3649979" y="4512628"/>
            <a:ext cx="2011680" cy="33210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60" b="1">
                <a:solidFill>
                  <a:srgbClr val="000000"/>
                </a:solidFill>
                <a:latin typeface="Arial" panose="020B0604020202020204"/>
              </a:rPr>
              <a:t>Bottom contact</a:t>
            </a:r>
            <a:endParaRPr sz="2160" b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5" name="Label-substrate"/>
          <p:cNvSpPr txBox="1"/>
          <p:nvPr>
            <p:custDataLst>
              <p:tags r:id="rId93"/>
            </p:custDataLst>
          </p:nvPr>
        </p:nvSpPr>
        <p:spPr>
          <a:xfrm rot="522000">
            <a:off x="2664778" y="5052060"/>
            <a:ext cx="2915285" cy="3505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80" b="1">
                <a:solidFill>
                  <a:srgbClr val="000000"/>
                </a:solidFill>
                <a:latin typeface="Arial" panose="020B0604020202020204"/>
              </a:rPr>
              <a:t>High purity substrate</a:t>
            </a:r>
            <a:endParaRPr sz="2280" b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6" name="Label-bias"/>
          <p:cNvSpPr txBox="1"/>
          <p:nvPr>
            <p:custDataLst>
              <p:tags r:id="rId94"/>
            </p:custDataLst>
          </p:nvPr>
        </p:nvSpPr>
        <p:spPr>
          <a:xfrm>
            <a:off x="9243060" y="3656013"/>
            <a:ext cx="381000" cy="368935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Arial" panose="020B0604020202020204"/>
              </a:rPr>
              <a:t>+V</a:t>
            </a:r>
            <a:endParaRPr sz="2400" b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7" name="Label-top-contact"/>
          <p:cNvSpPr txBox="1"/>
          <p:nvPr>
            <p:custDataLst>
              <p:tags r:id="rId95"/>
            </p:custDataLst>
          </p:nvPr>
        </p:nvSpPr>
        <p:spPr>
          <a:xfrm>
            <a:off x="4907280" y="4089400"/>
            <a:ext cx="1365885" cy="2946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920" b="1">
                <a:solidFill>
                  <a:srgbClr val="000000"/>
                </a:solidFill>
                <a:latin typeface="Arial" panose="020B0604020202020204"/>
              </a:rPr>
              <a:t>Top contact</a:t>
            </a:r>
            <a:endParaRPr sz="1920" b="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98" name="Top contact pointer"/>
          <p:cNvGrpSpPr/>
          <p:nvPr>
            <p:custDataLst>
              <p:tags r:id="rId96"/>
            </p:custDataLst>
          </p:nvPr>
        </p:nvGrpSpPr>
        <p:grpSpPr>
          <a:xfrm>
            <a:off x="5638800" y="3474720"/>
            <a:ext cx="243840" cy="563880"/>
            <a:chOff x="5638800" y="3474720"/>
            <a:chExt cx="243840" cy="563880"/>
          </a:xfrm>
        </p:grpSpPr>
        <p:sp>
          <p:nvSpPr>
            <p:cNvPr id="99" name="Top contact solid black arrow"/>
            <p:cNvSpPr/>
            <p:nvPr>
              <p:custDataLst>
                <p:tags r:id="rId97"/>
              </p:custDataLst>
            </p:nvPr>
          </p:nvSpPr>
          <p:spPr>
            <a:xfrm>
              <a:off x="5638800" y="3474720"/>
              <a:ext cx="243840" cy="563880"/>
            </a:xfrm>
            <a:custGeom>
              <a:avLst/>
              <a:gdLst/>
              <a:ahLst/>
              <a:cxnLst/>
              <a:rect l="l" t="t" r="r" b="b"/>
              <a:pathLst>
                <a:path w="16000" h="37000">
                  <a:moveTo>
                    <a:pt x="4000" y="37000"/>
                  </a:moveTo>
                  <a:lnTo>
                    <a:pt x="12000" y="37000"/>
                  </a:lnTo>
                  <a:lnTo>
                    <a:pt x="12000" y="7000"/>
                  </a:lnTo>
                  <a:lnTo>
                    <a:pt x="16000" y="7000"/>
                  </a:lnTo>
                  <a:lnTo>
                    <a:pt x="8000" y="0"/>
                  </a:lnTo>
                  <a:lnTo>
                    <a:pt x="0" y="7000"/>
                  </a:lnTo>
                  <a:lnTo>
                    <a:pt x="4000" y="7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2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3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4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5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6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7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8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9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10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11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12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13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14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15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16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17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18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19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20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21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22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23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24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25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26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27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28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29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30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31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32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33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34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35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36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37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38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39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40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41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42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43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44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45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46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47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48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49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50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51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52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53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54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55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56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57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58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59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60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61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62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63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64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65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66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67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68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69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70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71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72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73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74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75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76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77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78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79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80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81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82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83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84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85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86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87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88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89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90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91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92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93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94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95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96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ags/tag97.xml><?xml version="1.0" encoding="utf-8"?>
<p:tagLst xmlns:p="http://schemas.openxmlformats.org/presentationml/2006/main">
  <p:tag name="KSO_WM_DIAGRAM_VIRTUALLY_FRAME" val="{&quot;height&quot;:428.4,&quot;left&quot;:73.2,&quot;top&quot;:48,&quot;width&quot;:684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WPS 演示</Application>
  <PresentationFormat>On-screen Show (4:3)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李泉胜</cp:lastModifiedBy>
  <cp:revision>2</cp:revision>
  <dcterms:created xsi:type="dcterms:W3CDTF">2013-01-27T09:14:00Z</dcterms:created>
  <dcterms:modified xsi:type="dcterms:W3CDTF">2026-09-09T14:12:12Z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AC580884BE3F43BEB32A292210A86555_12</vt:lpwstr>
  </property>
  <property fmtid="{D5CDD505-2E9C-101B-9397-08002B2CF9AE}" pid="3" name="KSOProductBuildVer">
    <vt:lpwstr>2052-12.1.0.28505</vt:lpwstr>
  </property>
</Properties>
</file>